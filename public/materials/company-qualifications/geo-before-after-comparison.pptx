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14"/>
  </p:handoutMasterIdLst>
  <p:sldIdLst>
    <p:sldId id="259" r:id="rId3"/>
    <p:sldId id="277" r:id="rId4"/>
    <p:sldId id="315" r:id="rId6"/>
    <p:sldId id="304" r:id="rId7"/>
    <p:sldId id="319" r:id="rId8"/>
    <p:sldId id="323" r:id="rId9"/>
    <p:sldId id="340" r:id="rId10"/>
    <p:sldId id="330" r:id="rId11"/>
    <p:sldId id="302" r:id="rId12"/>
    <p:sldId id="295" r:id="rId13"/>
  </p:sldIdLst>
  <p:sldSz cx="12192000" cy="6858000"/>
  <p:notesSz cx="6858000" cy="9144000"/>
  <p:embeddedFontLst>
    <p:embeddedFont>
      <p:font typeface="汉仪文黑-55简" panose="00020600040101010101" pitchFamily="18" charset="-122"/>
      <p:regular r:id="rId18"/>
    </p:embeddedFont>
    <p:embeddedFont>
      <p:font typeface="汉仪雅酷黑 65W" panose="020B0604020202020204" pitchFamily="34" charset="-122"/>
      <p:regular r:id="rId19"/>
    </p:embeddedFont>
    <p:embeddedFont>
      <p:font typeface="楷体" panose="02010609060101010101" charset="-122"/>
      <p:regular r:id="rId20"/>
    </p:embeddedFont>
  </p:embeddedFontLst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561"/>
    <a:srgbClr val="2562F2"/>
    <a:srgbClr val="2F88E0"/>
    <a:srgbClr val="57D2EB"/>
    <a:srgbClr val="9BE6F9"/>
    <a:srgbClr val="72F6FF"/>
    <a:srgbClr val="091C99"/>
    <a:srgbClr val="082B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汉仪文黑-55简" panose="00020600040101010101" pitchFamily="18" charset="-122"/>
              <a:ea typeface="汉仪文黑-55简" panose="00020600040101010101" pitchFamily="18" charset="-122"/>
              <a:cs typeface="汉仪雅酷黑 65W" panose="020B0604020202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文黑-55简" panose="00020600040101010101" pitchFamily="18" charset="-122"/>
                <a:ea typeface="汉仪文黑-55简" panose="00020600040101010101" pitchFamily="18" charset="-122"/>
              </a:rPr>
            </a:fld>
            <a:endParaRPr lang="zh-CN" altLang="en-US" dirty="0">
              <a:latin typeface="汉仪文黑-55简" panose="00020600040101010101" pitchFamily="18" charset="-122"/>
              <a:ea typeface="汉仪文黑-55简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汉仪文黑-55简" panose="00020600040101010101" pitchFamily="18" charset="-122"/>
              <a:ea typeface="汉仪文黑-55简" panose="00020600040101010101" pitchFamily="18" charset="-122"/>
              <a:cs typeface="汉仪雅酷黑 65W" panose="020B0604020202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文黑-55简" panose="00020600040101010101" pitchFamily="18" charset="-122"/>
                <a:ea typeface="汉仪文黑-55简" panose="00020600040101010101" pitchFamily="18" charset="-122"/>
              </a:rPr>
            </a:fld>
            <a:endParaRPr lang="zh-CN" altLang="en-US" dirty="0">
              <a:latin typeface="汉仪文黑-55简" panose="00020600040101010101" pitchFamily="18" charset="-122"/>
              <a:ea typeface="汉仪文黑-55简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7B30956C-590A-49C1-AD6A-107DC078FD0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2192CC4F-232A-4675-811B-949CC8055DE3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文黑-55简" panose="00020600040101010101" pitchFamily="18" charset="-122"/>
        <a:ea typeface="汉仪文黑-55简" panose="00020600040101010101" pitchFamily="18" charset="-122"/>
        <a:cs typeface="汉仪文黑-55简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文黑-55简" panose="00020600040101010101" pitchFamily="18" charset="-122"/>
        <a:ea typeface="汉仪文黑-55简" panose="00020600040101010101" pitchFamily="18" charset="-122"/>
        <a:cs typeface="汉仪文黑-55简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文黑-55简" panose="00020600040101010101" pitchFamily="18" charset="-122"/>
        <a:ea typeface="汉仪文黑-55简" panose="00020600040101010101" pitchFamily="18" charset="-122"/>
        <a:cs typeface="汉仪文黑-55简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文黑-55简" panose="00020600040101010101" pitchFamily="18" charset="-122"/>
        <a:ea typeface="汉仪文黑-55简" panose="00020600040101010101" pitchFamily="18" charset="-122"/>
        <a:cs typeface="汉仪文黑-55简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文黑-55简" panose="00020600040101010101" pitchFamily="18" charset="-122"/>
        <a:ea typeface="汉仪文黑-55简" panose="00020600040101010101" pitchFamily="18" charset="-122"/>
        <a:cs typeface="汉仪文黑-55简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  <a:lvl2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2pPr>
            <a:lvl3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3pPr>
            <a:lvl4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4pPr>
            <a:lvl5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  <a:lvl2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2pPr>
            <a:lvl3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3pPr>
            <a:lvl4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4pPr>
            <a:lvl5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  <a:lvl2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2pPr>
            <a:lvl3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3pPr>
            <a:lvl4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4pPr>
            <a:lvl5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  <a:lvl2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2pPr>
            <a:lvl3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3pPr>
            <a:lvl4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4pPr>
            <a:lvl5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  <a:lvl2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2pPr>
            <a:lvl3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3pPr>
            <a:lvl4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4pPr>
            <a:lvl5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  <a:lvl2pPr>
              <a:defRPr sz="2800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2pPr>
            <a:lvl3pPr>
              <a:defRPr sz="2400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3pPr>
            <a:lvl4pPr>
              <a:defRPr sz="2000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4pPr>
            <a:lvl5pPr>
              <a:defRPr sz="2000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汉仪文黑-55简" panose="00020600040101010101" pitchFamily="18" charset="-122"/>
                <a:ea typeface="汉仪文黑-55简" panose="00020600040101010101" pitchFamily="18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  <a:lvl2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2pPr>
            <a:lvl3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3pPr>
            <a:lvl4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4pPr>
            <a:lvl5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  <a:lvl2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2pPr>
            <a:lvl3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3pPr>
            <a:lvl4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4pPr>
            <a:lvl5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6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75" t="58655" r="26773" b="34109"/>
          <a:stretch>
            <a:fillRect/>
          </a:stretch>
        </p:blipFill>
        <p:spPr>
          <a:xfrm>
            <a:off x="0" y="16816"/>
            <a:ext cx="3557816" cy="66272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01" t="53000" b="36281"/>
          <a:stretch>
            <a:fillRect/>
          </a:stretch>
        </p:blipFill>
        <p:spPr>
          <a:xfrm>
            <a:off x="9522104" y="0"/>
            <a:ext cx="2669895" cy="13068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68"/>
          <a:stretch>
            <a:fillRect/>
          </a:stretch>
        </p:blipFill>
        <p:spPr>
          <a:xfrm>
            <a:off x="803331" y="861887"/>
            <a:ext cx="1610805" cy="86229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54"/>
          <a:stretch>
            <a:fillRect/>
          </a:stretch>
        </p:blipFill>
        <p:spPr>
          <a:xfrm>
            <a:off x="10461258" y="-15937"/>
            <a:ext cx="1593301" cy="9073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63" t="66144" r="12294"/>
          <a:stretch>
            <a:fillRect/>
          </a:stretch>
        </p:blipFill>
        <p:spPr>
          <a:xfrm>
            <a:off x="1547247" y="0"/>
            <a:ext cx="9263742" cy="3957774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0" y="16510"/>
            <a:ext cx="12192000" cy="6842125"/>
          </a:xfrm>
          <a:prstGeom prst="rect">
            <a:avLst/>
          </a:prstGeom>
          <a:gradFill>
            <a:gsLst>
              <a:gs pos="0">
                <a:srgbClr val="091C99">
                  <a:alpha val="84000"/>
                </a:srgbClr>
              </a:gs>
              <a:gs pos="100000">
                <a:srgbClr val="091C99">
                  <a:alpha val="6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文黑-55简" panose="00020600040101010101" pitchFamily="18" charset="-122"/>
              <a:ea typeface="汉仪文黑-55简" panose="00020600040101010101" pitchFamily="18" charset="-122"/>
              <a:cs typeface="汉仪雅酷黑 65W" panose="020B0604020202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jpeg"/><Relationship Id="rId8" Type="http://schemas.openxmlformats.org/officeDocument/2006/relationships/image" Target="../media/image26.jpeg"/><Relationship Id="rId7" Type="http://schemas.openxmlformats.org/officeDocument/2006/relationships/image" Target="../media/image25.jpe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16816"/>
            <a:ext cx="3557816" cy="662726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522104" y="0"/>
            <a:ext cx="2669895" cy="13068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3331" y="861887"/>
            <a:ext cx="1610805" cy="86229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461258" y="-15937"/>
            <a:ext cx="1593301" cy="90732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547247" y="0"/>
            <a:ext cx="9263742" cy="3957774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1" y="-15876"/>
            <a:ext cx="12191999" cy="6236678"/>
          </a:xfrm>
          <a:prstGeom prst="rect">
            <a:avLst/>
          </a:prstGeom>
          <a:gradFill>
            <a:gsLst>
              <a:gs pos="0">
                <a:srgbClr val="091C99">
                  <a:alpha val="84000"/>
                </a:srgbClr>
              </a:gs>
              <a:gs pos="100000">
                <a:srgbClr val="091C99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文黑-55简" panose="00020600040101010101" pitchFamily="18" charset="-122"/>
              <a:ea typeface="汉仪文黑-55简" panose="00020600040101010101" pitchFamily="18" charset="-122"/>
              <a:cs typeface="汉仪雅酷黑 65W" panose="020B0604020202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2563551" y="1355489"/>
            <a:ext cx="49892" cy="49892"/>
          </a:xfrm>
          <a:prstGeom prst="ellipse">
            <a:avLst/>
          </a:prstGeom>
          <a:solidFill>
            <a:srgbClr val="9BE6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雅酷黑 65W" panose="020B0604020202020204" pitchFamily="34" charset="-122"/>
              <a:ea typeface="汉仪雅酷黑 65W" panose="020B0604020202020204" pitchFamily="34" charset="-122"/>
              <a:cs typeface="汉仪雅酷黑 65W" panose="020B0604020202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2715951" y="1355489"/>
            <a:ext cx="49892" cy="49892"/>
          </a:xfrm>
          <a:prstGeom prst="ellipse">
            <a:avLst/>
          </a:prstGeom>
          <a:solidFill>
            <a:srgbClr val="9BE6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雅酷黑 65W" panose="020B0604020202020204" pitchFamily="34" charset="-122"/>
              <a:ea typeface="汉仪雅酷黑 65W" panose="020B0604020202020204" pitchFamily="34" charset="-122"/>
              <a:cs typeface="汉仪雅酷黑 65W" panose="020B0604020202020204" pitchFamily="34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2868351" y="1355489"/>
            <a:ext cx="49892" cy="49892"/>
          </a:xfrm>
          <a:prstGeom prst="ellipse">
            <a:avLst/>
          </a:prstGeom>
          <a:solidFill>
            <a:srgbClr val="9BE6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雅酷黑 65W" panose="020B0604020202020204" pitchFamily="34" charset="-122"/>
              <a:ea typeface="汉仪雅酷黑 65W" panose="020B0604020202020204" pitchFamily="34" charset="-122"/>
              <a:cs typeface="汉仪雅酷黑 65W" panose="020B0604020202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385060" y="2987675"/>
            <a:ext cx="73253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6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雅酷黑 65W" panose="020B0604020202020204" pitchFamily="34" charset="-122"/>
              </a:rPr>
              <a:t>AI-GEO</a:t>
            </a:r>
            <a:r>
              <a:rPr lang="zh-CN" altLang="en-US" sz="36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雅酷黑 65W" panose="020B0604020202020204" pitchFamily="34" charset="-122"/>
              </a:rPr>
              <a:t>搜索优化实战案例</a:t>
            </a:r>
            <a:endParaRPr lang="zh-CN" altLang="en-US" sz="3600" dirty="0">
              <a:solidFill>
                <a:schemeClr val="bg1"/>
              </a:solidFill>
              <a:latin typeface="汉仪文黑-55简" panose="00020600040101010101" pitchFamily="18" charset="-122"/>
              <a:ea typeface="汉仪文黑-55简" panose="00020600040101010101" pitchFamily="18" charset="-122"/>
              <a:cs typeface="汉仪雅酷黑 65W" panose="020B0604020202020204" pitchFamily="34" charset="-122"/>
            </a:endParaRPr>
          </a:p>
        </p:txBody>
      </p:sp>
      <p:pic>
        <p:nvPicPr>
          <p:cNvPr id="2" name="图片 1" descr="正合九天Logo-白色版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2886" y="1016635"/>
            <a:ext cx="6529705" cy="19253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正合九天Logo-白色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4345" y="287020"/>
            <a:ext cx="2010410" cy="593090"/>
          </a:xfrm>
          <a:prstGeom prst="rect">
            <a:avLst/>
          </a:prstGeom>
        </p:spPr>
      </p:pic>
      <p:sp>
        <p:nvSpPr>
          <p:cNvPr id="3" name="文本框 6"/>
          <p:cNvSpPr txBox="1"/>
          <p:nvPr/>
        </p:nvSpPr>
        <p:spPr>
          <a:xfrm>
            <a:off x="278765" y="287020"/>
            <a:ext cx="30022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一、换了么科技有限公司</a:t>
            </a:r>
            <a:endParaRPr lang="en-US" altLang="zh-CN" sz="2000" b="1" dirty="0">
              <a:solidFill>
                <a:schemeClr val="bg1"/>
              </a:solidFill>
              <a:effectLst/>
              <a:latin typeface="汉仪文黑-55简" panose="00020600040101010101" pitchFamily="18" charset="-122"/>
              <a:ea typeface="汉仪文黑-55简" panose="00020600040101010101" pitchFamily="18" charset="-122"/>
              <a:cs typeface="汉仪文黑-55简" panose="00020600040101010101" pitchFamily="18" charset="-122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8635" y="1616710"/>
            <a:ext cx="4464685" cy="3248025"/>
          </a:xfrm>
          <a:prstGeom prst="roundRect">
            <a:avLst>
              <a:gd name="adj" fmla="val 8934"/>
            </a:avLst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955" y="1616710"/>
            <a:ext cx="5732145" cy="3248025"/>
          </a:xfrm>
          <a:prstGeom prst="roundRect">
            <a:avLst>
              <a:gd name="adj" fmla="val 8230"/>
            </a:avLst>
          </a:prstGeom>
        </p:spPr>
      </p:pic>
      <p:sp>
        <p:nvSpPr>
          <p:cNvPr id="7" name="矩形 6"/>
          <p:cNvSpPr/>
          <p:nvPr/>
        </p:nvSpPr>
        <p:spPr>
          <a:xfrm>
            <a:off x="5114925" y="2602230"/>
            <a:ext cx="860425" cy="89217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44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VS</a:t>
            </a:r>
            <a:endParaRPr lang="en-US" altLang="zh-CN" sz="44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文本框 6"/>
          <p:cNvSpPr txBox="1"/>
          <p:nvPr/>
        </p:nvSpPr>
        <p:spPr>
          <a:xfrm>
            <a:off x="618490" y="5284470"/>
            <a:ext cx="43611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dirty="0">
                <a:solidFill>
                  <a:srgbClr val="FF0000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豆包</a:t>
            </a:r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优化前：</a:t>
            </a:r>
            <a:r>
              <a:rPr lang="en-US" altLang="zh-CN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AI</a:t>
            </a:r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回答中无该公司记录</a:t>
            </a:r>
            <a:endParaRPr lang="zh-CN" altLang="en-US" sz="2000" b="1" dirty="0">
              <a:solidFill>
                <a:schemeClr val="bg1"/>
              </a:solidFill>
              <a:effectLst/>
              <a:latin typeface="汉仪文黑-55简" panose="00020600040101010101" pitchFamily="18" charset="-122"/>
              <a:ea typeface="汉仪文黑-55简" panose="00020600040101010101" pitchFamily="18" charset="-122"/>
              <a:cs typeface="汉仪文黑-55简" panose="00020600040101010101" pitchFamily="18" charset="-122"/>
              <a:sym typeface="+mn-lt"/>
            </a:endParaRPr>
          </a:p>
        </p:txBody>
      </p:sp>
      <p:sp>
        <p:nvSpPr>
          <p:cNvPr id="9" name="文本框 6"/>
          <p:cNvSpPr txBox="1"/>
          <p:nvPr/>
        </p:nvSpPr>
        <p:spPr>
          <a:xfrm>
            <a:off x="6724015" y="5284470"/>
            <a:ext cx="47682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dirty="0">
                <a:solidFill>
                  <a:srgbClr val="FF0000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豆包</a:t>
            </a:r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优化后：</a:t>
            </a:r>
            <a:r>
              <a:rPr lang="en-US" altLang="zh-CN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AI</a:t>
            </a:r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回答中该公司排名</a:t>
            </a:r>
            <a:r>
              <a:rPr lang="zh-CN" altLang="en-US" sz="2000" dirty="0">
                <a:solidFill>
                  <a:srgbClr val="FF0000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第二</a:t>
            </a:r>
            <a:endParaRPr lang="zh-CN" altLang="en-US" sz="2000" dirty="0">
              <a:solidFill>
                <a:srgbClr val="FF0000"/>
              </a:solidFill>
              <a:latin typeface="汉仪文黑-55简" panose="00020600040101010101" pitchFamily="18" charset="-122"/>
              <a:ea typeface="汉仪文黑-55简" panose="00020600040101010101" pitchFamily="18" charset="-122"/>
              <a:cs typeface="汉仪文黑-55简" panose="00020600040101010101" pitchFamily="18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1320800" y="1033145"/>
            <a:ext cx="9610090" cy="5274945"/>
          </a:xfrm>
          <a:prstGeom prst="roundRect">
            <a:avLst>
              <a:gd name="adj" fmla="val 8521"/>
            </a:avLst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4" name="图片 3" descr="正合九天Logo-白色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4345" y="287020"/>
            <a:ext cx="2010410" cy="593090"/>
          </a:xfrm>
          <a:prstGeom prst="rect">
            <a:avLst/>
          </a:prstGeom>
        </p:spPr>
      </p:pic>
      <p:sp>
        <p:nvSpPr>
          <p:cNvPr id="2" name="文本框 6"/>
          <p:cNvSpPr txBox="1"/>
          <p:nvPr/>
        </p:nvSpPr>
        <p:spPr>
          <a:xfrm>
            <a:off x="539750" y="287020"/>
            <a:ext cx="30022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GEO</a:t>
            </a:r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优化后数据</a:t>
            </a:r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统计</a:t>
            </a:r>
            <a:endParaRPr lang="zh-CN" altLang="en-US" sz="2000" dirty="0">
              <a:solidFill>
                <a:schemeClr val="bg1"/>
              </a:solidFill>
              <a:latin typeface="汉仪文黑-55简" panose="00020600040101010101" pitchFamily="18" charset="-122"/>
              <a:ea typeface="汉仪文黑-55简" panose="00020600040101010101" pitchFamily="18" charset="-122"/>
              <a:cs typeface="汉仪文黑-55简" panose="00020600040101010101" pitchFamily="18" charset="-122"/>
              <a:sym typeface="+mn-lt"/>
            </a:endParaRPr>
          </a:p>
        </p:txBody>
      </p:sp>
      <p:pic>
        <p:nvPicPr>
          <p:cNvPr id="3" name="图片 2" descr="微信图片_20260304112644_987_1724"/>
          <p:cNvPicPr>
            <a:picLocks noChangeAspect="1"/>
          </p:cNvPicPr>
          <p:nvPr/>
        </p:nvPicPr>
        <p:blipFill>
          <a:blip r:embed="rId2"/>
          <a:srcRect r="11025"/>
          <a:stretch>
            <a:fillRect/>
          </a:stretch>
        </p:blipFill>
        <p:spPr>
          <a:xfrm>
            <a:off x="1387475" y="1145540"/>
            <a:ext cx="9439275" cy="5078095"/>
          </a:xfrm>
          <a:prstGeom prst="roundRect">
            <a:avLst>
              <a:gd name="adj" fmla="val 10080"/>
            </a:avLst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正合九天Logo-白色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4345" y="287020"/>
            <a:ext cx="2010410" cy="593090"/>
          </a:xfrm>
          <a:prstGeom prst="rect">
            <a:avLst/>
          </a:prstGeom>
        </p:spPr>
      </p:pic>
      <p:sp>
        <p:nvSpPr>
          <p:cNvPr id="13" name="文本框 6"/>
          <p:cNvSpPr txBox="1"/>
          <p:nvPr/>
        </p:nvSpPr>
        <p:spPr>
          <a:xfrm>
            <a:off x="278765" y="287020"/>
            <a:ext cx="30022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二、摩玛印象</a:t>
            </a:r>
            <a:endParaRPr lang="en-US" altLang="zh-CN" sz="2000" b="1" dirty="0">
              <a:solidFill>
                <a:schemeClr val="bg1"/>
              </a:solidFill>
              <a:effectLst/>
              <a:latin typeface="汉仪文黑-55简" panose="00020600040101010101" pitchFamily="18" charset="-122"/>
              <a:ea typeface="汉仪文黑-55简" panose="00020600040101010101" pitchFamily="18" charset="-122"/>
              <a:cs typeface="汉仪文黑-55简" panose="00020600040101010101" pitchFamily="18" charset="-122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" y="979805"/>
            <a:ext cx="4668520" cy="4601210"/>
          </a:xfrm>
          <a:prstGeom prst="roundRect">
            <a:avLst>
              <a:gd name="adj" fmla="val 7562"/>
            </a:avLst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660" y="979805"/>
            <a:ext cx="5013960" cy="4603115"/>
          </a:xfrm>
          <a:prstGeom prst="roundRect">
            <a:avLst>
              <a:gd name="adj" fmla="val 7835"/>
            </a:avLst>
          </a:prstGeom>
        </p:spPr>
      </p:pic>
      <p:sp>
        <p:nvSpPr>
          <p:cNvPr id="14" name="矩形 13"/>
          <p:cNvSpPr/>
          <p:nvPr/>
        </p:nvSpPr>
        <p:spPr>
          <a:xfrm>
            <a:off x="5759450" y="2785110"/>
            <a:ext cx="860425" cy="89217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44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VS</a:t>
            </a:r>
            <a:endParaRPr lang="en-US" altLang="zh-CN" sz="44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6"/>
          <p:cNvSpPr txBox="1"/>
          <p:nvPr/>
        </p:nvSpPr>
        <p:spPr>
          <a:xfrm>
            <a:off x="1146810" y="5875020"/>
            <a:ext cx="43611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dirty="0">
                <a:solidFill>
                  <a:srgbClr val="FF0000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元宝</a:t>
            </a:r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优化前：</a:t>
            </a:r>
            <a:r>
              <a:rPr lang="en-US" altLang="zh-CN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AI</a:t>
            </a:r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回答中无该公司记录</a:t>
            </a:r>
            <a:endParaRPr lang="zh-CN" altLang="en-US" sz="2000" b="1" dirty="0">
              <a:solidFill>
                <a:schemeClr val="bg1"/>
              </a:solidFill>
              <a:effectLst/>
              <a:latin typeface="汉仪文黑-55简" panose="00020600040101010101" pitchFamily="18" charset="-122"/>
              <a:ea typeface="汉仪文黑-55简" panose="00020600040101010101" pitchFamily="18" charset="-122"/>
              <a:cs typeface="汉仪文黑-55简" panose="00020600040101010101" pitchFamily="18" charset="-122"/>
              <a:sym typeface="+mn-lt"/>
            </a:endParaRPr>
          </a:p>
        </p:txBody>
      </p:sp>
      <p:sp>
        <p:nvSpPr>
          <p:cNvPr id="5" name="文本框 6"/>
          <p:cNvSpPr txBox="1"/>
          <p:nvPr/>
        </p:nvSpPr>
        <p:spPr>
          <a:xfrm>
            <a:off x="6731000" y="5875020"/>
            <a:ext cx="47682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dirty="0">
                <a:solidFill>
                  <a:srgbClr val="FF0000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元宝</a:t>
            </a:r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优化后：</a:t>
            </a:r>
            <a:r>
              <a:rPr lang="en-US" altLang="zh-CN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AI</a:t>
            </a:r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回答中该公司排名</a:t>
            </a:r>
            <a:r>
              <a:rPr lang="zh-CN" altLang="en-US" sz="2000" dirty="0">
                <a:solidFill>
                  <a:srgbClr val="FF0000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第二</a:t>
            </a:r>
            <a:endParaRPr lang="zh-CN" altLang="en-US" sz="2000" dirty="0">
              <a:solidFill>
                <a:srgbClr val="FF0000"/>
              </a:solidFill>
              <a:latin typeface="汉仪文黑-55简" panose="00020600040101010101" pitchFamily="18" charset="-122"/>
              <a:ea typeface="汉仪文黑-55简" panose="00020600040101010101" pitchFamily="18" charset="-122"/>
              <a:cs typeface="汉仪文黑-55简" panose="00020600040101010101" pitchFamily="18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1389380" y="1047750"/>
            <a:ext cx="9654540" cy="5419090"/>
          </a:xfrm>
          <a:prstGeom prst="roundRect">
            <a:avLst>
              <a:gd name="adj" fmla="val 8521"/>
            </a:avLst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" name="图片 1" descr="正合九天Logo-白色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4345" y="287020"/>
            <a:ext cx="2010410" cy="593090"/>
          </a:xfrm>
          <a:prstGeom prst="rect">
            <a:avLst/>
          </a:prstGeom>
        </p:spPr>
      </p:pic>
      <p:sp>
        <p:nvSpPr>
          <p:cNvPr id="8" name="文本框 6"/>
          <p:cNvSpPr txBox="1"/>
          <p:nvPr/>
        </p:nvSpPr>
        <p:spPr>
          <a:xfrm>
            <a:off x="539750" y="287020"/>
            <a:ext cx="30022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GEO</a:t>
            </a:r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优化后数据统计</a:t>
            </a:r>
            <a:endParaRPr lang="en-US" altLang="zh-CN" sz="2000" b="1" dirty="0">
              <a:solidFill>
                <a:schemeClr val="bg1"/>
              </a:solidFill>
              <a:effectLst/>
              <a:latin typeface="汉仪文黑-55简" panose="00020600040101010101" pitchFamily="18" charset="-122"/>
              <a:ea typeface="汉仪文黑-55简" panose="00020600040101010101" pitchFamily="18" charset="-122"/>
              <a:cs typeface="汉仪文黑-55简" panose="00020600040101010101" pitchFamily="18" charset="-122"/>
              <a:sym typeface="+mn-lt"/>
            </a:endParaRPr>
          </a:p>
        </p:txBody>
      </p:sp>
      <p:pic>
        <p:nvPicPr>
          <p:cNvPr id="3" name="图片 2" descr="微信图片_20260304111935_985_1724"/>
          <p:cNvPicPr>
            <a:picLocks noChangeAspect="1"/>
          </p:cNvPicPr>
          <p:nvPr/>
        </p:nvPicPr>
        <p:blipFill>
          <a:blip r:embed="rId2"/>
          <a:srcRect r="12919"/>
          <a:stretch>
            <a:fillRect/>
          </a:stretch>
        </p:blipFill>
        <p:spPr>
          <a:xfrm>
            <a:off x="1511935" y="1172845"/>
            <a:ext cx="9450070" cy="5194300"/>
          </a:xfrm>
          <a:prstGeom prst="roundRect">
            <a:avLst>
              <a:gd name="adj" fmla="val 10154"/>
            </a:avLst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正合九天Logo-白色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4345" y="287020"/>
            <a:ext cx="2010410" cy="5930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05" y="1080135"/>
            <a:ext cx="5245100" cy="4581525"/>
          </a:xfrm>
          <a:prstGeom prst="roundRect">
            <a:avLst>
              <a:gd name="adj" fmla="val 10228"/>
            </a:avLst>
          </a:prstGeom>
        </p:spPr>
      </p:pic>
      <p:sp>
        <p:nvSpPr>
          <p:cNvPr id="11" name="文本框 6"/>
          <p:cNvSpPr txBox="1"/>
          <p:nvPr/>
        </p:nvSpPr>
        <p:spPr>
          <a:xfrm>
            <a:off x="278765" y="287020"/>
            <a:ext cx="30022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三、蓉和妈妈菜</a:t>
            </a:r>
            <a:endParaRPr lang="en-US" altLang="zh-CN" sz="2000" b="1" dirty="0">
              <a:solidFill>
                <a:schemeClr val="bg1"/>
              </a:solidFill>
              <a:effectLst/>
              <a:latin typeface="汉仪文黑-55简" panose="00020600040101010101" pitchFamily="18" charset="-122"/>
              <a:ea typeface="汉仪文黑-55简" panose="00020600040101010101" pitchFamily="18" charset="-122"/>
              <a:cs typeface="汉仪文黑-55简" panose="00020600040101010101" pitchFamily="18" charset="-122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519420" y="2930525"/>
            <a:ext cx="860425" cy="89217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44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VS</a:t>
            </a:r>
            <a:endParaRPr lang="en-US" altLang="zh-CN" sz="44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59765" y="6056630"/>
            <a:ext cx="10873740" cy="398780"/>
            <a:chOff x="974" y="8322"/>
            <a:chExt cx="17124" cy="628"/>
          </a:xfrm>
        </p:grpSpPr>
        <p:sp>
          <p:nvSpPr>
            <p:cNvPr id="4" name="文本框 6"/>
            <p:cNvSpPr txBox="1"/>
            <p:nvPr/>
          </p:nvSpPr>
          <p:spPr>
            <a:xfrm>
              <a:off x="974" y="8322"/>
              <a:ext cx="6868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000" dirty="0">
                  <a:solidFill>
                    <a:srgbClr val="FF0000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千问</a:t>
              </a:r>
              <a:r>
                <a:rPr lang="zh-CN" altLang="en-US" sz="2000" dirty="0">
                  <a:solidFill>
                    <a:schemeClr val="bg1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优化前：</a:t>
              </a:r>
              <a:r>
                <a:rPr lang="en-US" altLang="zh-CN" sz="2000" dirty="0">
                  <a:solidFill>
                    <a:schemeClr val="bg1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AI</a:t>
              </a:r>
              <a:r>
                <a:rPr lang="zh-CN" altLang="en-US" sz="2000" dirty="0">
                  <a:solidFill>
                    <a:schemeClr val="bg1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回答中无该公司记录</a:t>
              </a:r>
              <a:endParaRPr lang="zh-CN" altLang="en-US" sz="2000" b="1" dirty="0">
                <a:solidFill>
                  <a:schemeClr val="bg1"/>
                </a:solidFill>
                <a:effectLst/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endParaRPr>
            </a:p>
          </p:txBody>
        </p:sp>
        <p:sp>
          <p:nvSpPr>
            <p:cNvPr id="10" name="文本框 6"/>
            <p:cNvSpPr txBox="1"/>
            <p:nvPr/>
          </p:nvSpPr>
          <p:spPr>
            <a:xfrm>
              <a:off x="10589" y="8322"/>
              <a:ext cx="7509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2000" dirty="0">
                  <a:solidFill>
                    <a:srgbClr val="FF0000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千问</a:t>
              </a:r>
              <a:r>
                <a:rPr lang="zh-CN" altLang="en-US" sz="2000" dirty="0">
                  <a:solidFill>
                    <a:schemeClr val="bg1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优化后：</a:t>
              </a:r>
              <a:r>
                <a:rPr lang="en-US" altLang="zh-CN" sz="2000" dirty="0">
                  <a:solidFill>
                    <a:schemeClr val="bg1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AI</a:t>
              </a:r>
              <a:r>
                <a:rPr lang="zh-CN" altLang="en-US" sz="2000" dirty="0">
                  <a:solidFill>
                    <a:schemeClr val="bg1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回答中该公司排名</a:t>
              </a:r>
              <a:r>
                <a:rPr lang="zh-CN" altLang="en-US" sz="2000" b="1" dirty="0">
                  <a:solidFill>
                    <a:srgbClr val="FF0000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第一</a:t>
              </a:r>
              <a:endParaRPr lang="zh-CN" altLang="en-US" sz="2000" b="1" dirty="0">
                <a:solidFill>
                  <a:srgbClr val="FF0000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endParaRPr>
            </a:p>
          </p:txBody>
        </p:sp>
      </p:grpSp>
      <p:pic>
        <p:nvPicPr>
          <p:cNvPr id="6" name="图片 5" descr="微信图片_20260304111757_983_1724"/>
          <p:cNvPicPr>
            <a:picLocks noChangeAspect="1"/>
          </p:cNvPicPr>
          <p:nvPr/>
        </p:nvPicPr>
        <p:blipFill>
          <a:blip r:embed="rId3"/>
          <a:srcRect l="28756" r="14043"/>
          <a:stretch>
            <a:fillRect/>
          </a:stretch>
        </p:blipFill>
        <p:spPr>
          <a:xfrm>
            <a:off x="6436360" y="1116330"/>
            <a:ext cx="5311140" cy="4545330"/>
          </a:xfrm>
          <a:prstGeom prst="roundRect">
            <a:avLst>
              <a:gd name="adj" fmla="val 10151"/>
            </a:avLst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1449070" y="1167765"/>
            <a:ext cx="9293225" cy="5069205"/>
          </a:xfrm>
          <a:prstGeom prst="roundRect">
            <a:avLst>
              <a:gd name="adj" fmla="val 8521"/>
            </a:avLst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" name="图片 1" descr="正合九天Logo-白色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4345" y="287020"/>
            <a:ext cx="2010410" cy="593090"/>
          </a:xfrm>
          <a:prstGeom prst="rect">
            <a:avLst/>
          </a:prstGeom>
        </p:spPr>
      </p:pic>
      <p:sp>
        <p:nvSpPr>
          <p:cNvPr id="8" name="文本框 6"/>
          <p:cNvSpPr txBox="1"/>
          <p:nvPr/>
        </p:nvSpPr>
        <p:spPr>
          <a:xfrm>
            <a:off x="539750" y="287020"/>
            <a:ext cx="30022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GEO</a:t>
            </a:r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优化后数据统计</a:t>
            </a:r>
            <a:endParaRPr lang="en-US" altLang="zh-CN" sz="2000" b="1" dirty="0">
              <a:solidFill>
                <a:schemeClr val="bg1"/>
              </a:solidFill>
              <a:effectLst/>
              <a:latin typeface="汉仪文黑-55简" panose="00020600040101010101" pitchFamily="18" charset="-122"/>
              <a:ea typeface="汉仪文黑-55简" panose="00020600040101010101" pitchFamily="18" charset="-122"/>
              <a:cs typeface="汉仪文黑-55简" panose="00020600040101010101" pitchFamily="18" charset="-122"/>
              <a:sym typeface="+mn-lt"/>
            </a:endParaRPr>
          </a:p>
        </p:txBody>
      </p:sp>
      <p:pic>
        <p:nvPicPr>
          <p:cNvPr id="3" name="图片 2" descr="微信图片_20260304111829_984_1724"/>
          <p:cNvPicPr>
            <a:picLocks noChangeAspect="1"/>
          </p:cNvPicPr>
          <p:nvPr/>
        </p:nvPicPr>
        <p:blipFill>
          <a:blip r:embed="rId2"/>
          <a:srcRect r="12321"/>
          <a:stretch>
            <a:fillRect/>
          </a:stretch>
        </p:blipFill>
        <p:spPr>
          <a:xfrm>
            <a:off x="1525270" y="1294765"/>
            <a:ext cx="9141460" cy="5115560"/>
          </a:xfrm>
          <a:prstGeom prst="roundRect">
            <a:avLst>
              <a:gd name="adj" fmla="val 9147"/>
            </a:avLst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正合九天Logo-白色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4345" y="287020"/>
            <a:ext cx="2010410" cy="59309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" y="1134110"/>
            <a:ext cx="4244340" cy="4673600"/>
          </a:xfrm>
          <a:prstGeom prst="roundRect">
            <a:avLst>
              <a:gd name="adj" fmla="val 12133"/>
            </a:avLst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985" y="1134110"/>
            <a:ext cx="4990465" cy="4615815"/>
          </a:xfrm>
          <a:prstGeom prst="roundRect">
            <a:avLst>
              <a:gd name="adj" fmla="val 11305"/>
            </a:avLst>
          </a:prstGeom>
        </p:spPr>
      </p:pic>
      <p:sp>
        <p:nvSpPr>
          <p:cNvPr id="59" name="文本框 6"/>
          <p:cNvSpPr txBox="1"/>
          <p:nvPr/>
        </p:nvSpPr>
        <p:spPr>
          <a:xfrm>
            <a:off x="278765" y="287020"/>
            <a:ext cx="52565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四、成都美瑞凯金属制品有限公司</a:t>
            </a:r>
            <a:endParaRPr lang="en-US" altLang="zh-CN" sz="2000" b="1" dirty="0">
              <a:solidFill>
                <a:schemeClr val="bg1"/>
              </a:solidFill>
              <a:effectLst/>
              <a:latin typeface="汉仪文黑-55简" panose="00020600040101010101" pitchFamily="18" charset="-122"/>
              <a:ea typeface="汉仪文黑-55简" panose="00020600040101010101" pitchFamily="18" charset="-122"/>
              <a:cs typeface="汉仪文黑-55简" panose="00020600040101010101" pitchFamily="18" charset="-122"/>
              <a:sym typeface="+mn-lt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5199380" y="2983230"/>
            <a:ext cx="860425" cy="89217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44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VS</a:t>
            </a:r>
            <a:endParaRPr lang="en-US" altLang="zh-CN" sz="4400" b="1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43865" y="6134735"/>
            <a:ext cx="11277600" cy="398780"/>
            <a:chOff x="338" y="8322"/>
            <a:chExt cx="17760" cy="628"/>
          </a:xfrm>
        </p:grpSpPr>
        <p:sp>
          <p:nvSpPr>
            <p:cNvPr id="3" name="文本框 6"/>
            <p:cNvSpPr txBox="1"/>
            <p:nvPr/>
          </p:nvSpPr>
          <p:spPr>
            <a:xfrm>
              <a:off x="338" y="8322"/>
              <a:ext cx="7959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2000" dirty="0">
                  <a:solidFill>
                    <a:srgbClr val="FF0000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Deepseek</a:t>
              </a:r>
              <a:r>
                <a:rPr lang="zh-CN" altLang="en-US" sz="2000" dirty="0">
                  <a:solidFill>
                    <a:schemeClr val="bg1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优化前：</a:t>
              </a:r>
              <a:r>
                <a:rPr lang="en-US" altLang="zh-CN" sz="2000" dirty="0">
                  <a:solidFill>
                    <a:schemeClr val="bg1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AI</a:t>
              </a:r>
              <a:r>
                <a:rPr lang="zh-CN" altLang="en-US" sz="2000" dirty="0">
                  <a:solidFill>
                    <a:schemeClr val="bg1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回答中无该公司记录</a:t>
              </a:r>
              <a:endParaRPr lang="zh-CN" altLang="en-US" sz="2000" b="1" dirty="0">
                <a:solidFill>
                  <a:schemeClr val="bg1"/>
                </a:solidFill>
                <a:effectLst/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endParaRPr>
            </a:p>
          </p:txBody>
        </p:sp>
        <p:sp>
          <p:nvSpPr>
            <p:cNvPr id="10" name="文本框 6"/>
            <p:cNvSpPr txBox="1"/>
            <p:nvPr/>
          </p:nvSpPr>
          <p:spPr>
            <a:xfrm>
              <a:off x="9544" y="8322"/>
              <a:ext cx="8554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2000" dirty="0">
                  <a:solidFill>
                    <a:srgbClr val="FF0000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Deepseek</a:t>
              </a:r>
              <a:r>
                <a:rPr lang="zh-CN" altLang="en-US" sz="2000" dirty="0">
                  <a:solidFill>
                    <a:schemeClr val="bg1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优化后：</a:t>
              </a:r>
              <a:r>
                <a:rPr lang="en-US" altLang="zh-CN" sz="2000" dirty="0">
                  <a:solidFill>
                    <a:schemeClr val="bg1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AI</a:t>
              </a:r>
              <a:r>
                <a:rPr lang="zh-CN" altLang="en-US" sz="2000" dirty="0">
                  <a:solidFill>
                    <a:schemeClr val="bg1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回答中该公司排名</a:t>
              </a:r>
              <a:r>
                <a:rPr lang="zh-CN" altLang="en-US" sz="2000" dirty="0">
                  <a:solidFill>
                    <a:srgbClr val="FF0000"/>
                  </a:solidFill>
                  <a:latin typeface="汉仪文黑-55简" panose="00020600040101010101" pitchFamily="18" charset="-122"/>
                  <a:ea typeface="汉仪文黑-55简" panose="00020600040101010101" pitchFamily="18" charset="-122"/>
                  <a:cs typeface="汉仪文黑-55简" panose="00020600040101010101" pitchFamily="18" charset="-122"/>
                  <a:sym typeface="+mn-lt"/>
                </a:rPr>
                <a:t>第二</a:t>
              </a:r>
              <a:endParaRPr lang="zh-CN" altLang="en-US" sz="2000" dirty="0">
                <a:solidFill>
                  <a:srgbClr val="FF0000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endParaRPr>
            </a:p>
          </p:txBody>
        </p: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1586230" y="1085215"/>
            <a:ext cx="9003665" cy="5134610"/>
          </a:xfrm>
          <a:prstGeom prst="roundRect">
            <a:avLst>
              <a:gd name="adj" fmla="val 8521"/>
            </a:avLst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2" name="图片 1" descr="正合九天Logo-白色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4345" y="287020"/>
            <a:ext cx="2010410" cy="593090"/>
          </a:xfrm>
          <a:prstGeom prst="rect">
            <a:avLst/>
          </a:prstGeom>
        </p:spPr>
      </p:pic>
      <p:sp>
        <p:nvSpPr>
          <p:cNvPr id="10" name="文本框 6"/>
          <p:cNvSpPr txBox="1"/>
          <p:nvPr/>
        </p:nvSpPr>
        <p:spPr>
          <a:xfrm>
            <a:off x="539750" y="287020"/>
            <a:ext cx="30022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GEO</a:t>
            </a:r>
            <a:r>
              <a:rPr lang="zh-CN" altLang="en-US" sz="2000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lt"/>
              </a:rPr>
              <a:t>优化后数据统计</a:t>
            </a:r>
            <a:endParaRPr lang="en-US" altLang="zh-CN" sz="2000" b="1" dirty="0">
              <a:solidFill>
                <a:schemeClr val="bg1"/>
              </a:solidFill>
              <a:effectLst/>
              <a:latin typeface="汉仪文黑-55简" panose="00020600040101010101" pitchFamily="18" charset="-122"/>
              <a:ea typeface="汉仪文黑-55简" panose="00020600040101010101" pitchFamily="18" charset="-122"/>
              <a:cs typeface="汉仪文黑-55简" panose="00020600040101010101" pitchFamily="18" charset="-122"/>
              <a:sym typeface="+mn-lt"/>
            </a:endParaRPr>
          </a:p>
        </p:txBody>
      </p:sp>
      <p:pic>
        <p:nvPicPr>
          <p:cNvPr id="3" name="图片 2" descr="微信图片_20260304112113_986_1724"/>
          <p:cNvPicPr>
            <a:picLocks noChangeAspect="1"/>
          </p:cNvPicPr>
          <p:nvPr/>
        </p:nvPicPr>
        <p:blipFill>
          <a:blip r:embed="rId2"/>
          <a:srcRect r="14763"/>
          <a:stretch>
            <a:fillRect/>
          </a:stretch>
        </p:blipFill>
        <p:spPr>
          <a:xfrm>
            <a:off x="1711325" y="1206500"/>
            <a:ext cx="8769985" cy="4925060"/>
          </a:xfrm>
          <a:prstGeom prst="roundRect">
            <a:avLst>
              <a:gd name="adj" fmla="val 11451"/>
            </a:avLst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16816"/>
            <a:ext cx="3557816" cy="662726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522104" y="0"/>
            <a:ext cx="2669895" cy="13068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3331" y="861887"/>
            <a:ext cx="1610805" cy="86229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461258" y="-15937"/>
            <a:ext cx="1593301" cy="90732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547247" y="0"/>
            <a:ext cx="9263742" cy="3957774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1" y="-1"/>
            <a:ext cx="12191999" cy="6873938"/>
          </a:xfrm>
          <a:prstGeom prst="rect">
            <a:avLst/>
          </a:prstGeom>
          <a:gradFill>
            <a:gsLst>
              <a:gs pos="0">
                <a:srgbClr val="091C99">
                  <a:alpha val="84000"/>
                </a:srgbClr>
              </a:gs>
              <a:gs pos="100000">
                <a:srgbClr val="091C99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文黑-55简" panose="00020600040101010101" pitchFamily="18" charset="-122"/>
              <a:ea typeface="汉仪文黑-55简" panose="00020600040101010101" pitchFamily="18" charset="-122"/>
              <a:cs typeface="汉仪雅酷黑 65W" panose="020B0604020202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2563551" y="1355489"/>
            <a:ext cx="49892" cy="49892"/>
          </a:xfrm>
          <a:prstGeom prst="ellipse">
            <a:avLst/>
          </a:prstGeom>
          <a:solidFill>
            <a:srgbClr val="9BE6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雅酷黑 65W" panose="020B0604020202020204" pitchFamily="34" charset="-122"/>
              <a:ea typeface="汉仪雅酷黑 65W" panose="020B0604020202020204" pitchFamily="34" charset="-122"/>
              <a:cs typeface="汉仪雅酷黑 65W" panose="020B0604020202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2715951" y="1355489"/>
            <a:ext cx="49892" cy="49892"/>
          </a:xfrm>
          <a:prstGeom prst="ellipse">
            <a:avLst/>
          </a:prstGeom>
          <a:solidFill>
            <a:srgbClr val="9BE6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雅酷黑 65W" panose="020B0604020202020204" pitchFamily="34" charset="-122"/>
              <a:ea typeface="汉仪雅酷黑 65W" panose="020B0604020202020204" pitchFamily="34" charset="-122"/>
              <a:cs typeface="汉仪雅酷黑 65W" panose="020B0604020202020204" pitchFamily="34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2868351" y="1355489"/>
            <a:ext cx="49892" cy="49892"/>
          </a:xfrm>
          <a:prstGeom prst="ellipse">
            <a:avLst/>
          </a:prstGeom>
          <a:solidFill>
            <a:srgbClr val="9BE6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雅酷黑 65W" panose="020B0604020202020204" pitchFamily="34" charset="-122"/>
              <a:ea typeface="汉仪雅酷黑 65W" panose="020B0604020202020204" pitchFamily="34" charset="-122"/>
              <a:cs typeface="汉仪雅酷黑 65W" panose="020B0604020202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247896" y="1400928"/>
            <a:ext cx="7696204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buClrTx/>
              <a:buSzTx/>
              <a:buFontTx/>
            </a:pPr>
            <a:r>
              <a:rPr lang="en-US" altLang="zh-CN" sz="11500" spc="3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9000">
                      <a:schemeClr val="bg1"/>
                    </a:gs>
                    <a:gs pos="93000">
                      <a:srgbClr val="082B4C"/>
                    </a:gs>
                  </a:gsLst>
                  <a:lin ang="5400000" scaled="1"/>
                </a:gradFill>
                <a:latin typeface="汉仪雅酷黑 65W" panose="020B0604020202020204" pitchFamily="34" charset="-122"/>
                <a:ea typeface="汉仪雅酷黑 65W" panose="020B0604020202020204" pitchFamily="34" charset="-122"/>
                <a:cs typeface="汉仪雅酷黑 65W" panose="020B0604020202020204" pitchFamily="34" charset="-122"/>
                <a:sym typeface="+mn-ea"/>
              </a:rPr>
              <a:t>THANKS</a:t>
            </a:r>
            <a:endParaRPr lang="en-US" altLang="zh-CN" sz="11500" spc="30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9000">
                    <a:schemeClr val="bg1"/>
                  </a:gs>
                  <a:gs pos="93000">
                    <a:srgbClr val="082B4C"/>
                  </a:gs>
                </a:gsLst>
                <a:lin ang="5400000" scaled="1"/>
              </a:gradFill>
              <a:latin typeface="汉仪雅酷黑 65W" panose="020B0604020202020204" pitchFamily="34" charset="-122"/>
              <a:ea typeface="汉仪雅酷黑 65W" panose="020B0604020202020204" pitchFamily="34" charset="-122"/>
              <a:cs typeface="汉仪雅酷黑 65W" panose="020B0604020202020204" pitchFamily="34" charset="-122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238375" y="1419225"/>
            <a:ext cx="7533005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 fontAlgn="ctr">
              <a:lnSpc>
                <a:spcPct val="9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ea"/>
              </a:rPr>
              <a:t>正合商学</a:t>
            </a:r>
            <a:r>
              <a:rPr lang="en-US" altLang="zh-CN" sz="16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ea"/>
              </a:rPr>
              <a:t>|</a:t>
            </a:r>
            <a:r>
              <a:rPr lang="zh-CN" altLang="en-US" sz="16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ea"/>
              </a:rPr>
              <a:t>正合资本</a:t>
            </a:r>
            <a:r>
              <a:rPr lang="en-US" altLang="zh-CN" sz="16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ea"/>
              </a:rPr>
              <a:t>|</a:t>
            </a:r>
            <a:r>
              <a:rPr lang="zh-CN" altLang="en-US" sz="16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ea"/>
              </a:rPr>
              <a:t>正合企服</a:t>
            </a:r>
            <a:r>
              <a:rPr lang="en-US" altLang="zh-CN" sz="16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ea"/>
              </a:rPr>
              <a:t>|</a:t>
            </a:r>
            <a:r>
              <a:rPr lang="zh-CN" altLang="en-US" sz="16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ea"/>
              </a:rPr>
              <a:t>正合智能</a:t>
            </a:r>
            <a:endParaRPr lang="zh-CN" altLang="en-US" sz="1600" b="1" dirty="0">
              <a:solidFill>
                <a:schemeClr val="bg1"/>
              </a:solidFill>
              <a:latin typeface="汉仪文黑-55简" panose="00020600040101010101" pitchFamily="18" charset="-122"/>
              <a:ea typeface="汉仪文黑-55简" panose="00020600040101010101" pitchFamily="18" charset="-122"/>
              <a:cs typeface="汉仪文黑-55简" panose="00020600040101010101" pitchFamily="18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060" y="6397625"/>
            <a:ext cx="52184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fontAlgn="ctr">
              <a:lnSpc>
                <a:spcPct val="9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楷体" panose="02010609060101010101" charset="-122"/>
                <a:sym typeface="+mn-ea"/>
              </a:rPr>
              <a:t> </a:t>
            </a:r>
            <a:endParaRPr lang="en-US" altLang="zh-CN" sz="2000" b="1" dirty="0">
              <a:solidFill>
                <a:schemeClr val="bg1"/>
              </a:solidFill>
              <a:latin typeface="汉仪文黑-55简" panose="00020600040101010101" pitchFamily="18" charset="-122"/>
              <a:ea typeface="汉仪文黑-55简" panose="00020600040101010101" pitchFamily="18" charset="-122"/>
              <a:cs typeface="楷体" panose="02010609060101010101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56155" y="2981960"/>
            <a:ext cx="7529195" cy="312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 fontAlgn="ctr">
              <a:lnSpc>
                <a:spcPct val="9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ea"/>
              </a:rPr>
              <a:t>中国</a:t>
            </a:r>
            <a:r>
              <a:rPr lang="en-US" altLang="zh-CN" sz="16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ea"/>
              </a:rPr>
              <a:t>•</a:t>
            </a:r>
            <a:r>
              <a:rPr lang="zh-CN" altLang="en-US" sz="16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ea"/>
              </a:rPr>
              <a:t>成都</a:t>
            </a:r>
            <a:r>
              <a:rPr lang="en-US" altLang="zh-CN" sz="16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ea"/>
              </a:rPr>
              <a:t>•</a:t>
            </a:r>
            <a:r>
              <a:rPr lang="zh-CN" altLang="en-US" sz="16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ea"/>
              </a:rPr>
              <a:t>龙泉驿区成龙大道二段</a:t>
            </a:r>
            <a:r>
              <a:rPr lang="en-US" altLang="zh-CN" sz="16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ea"/>
              </a:rPr>
              <a:t>888</a:t>
            </a:r>
            <a:r>
              <a:rPr lang="zh-CN" altLang="en-US" sz="16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ea"/>
              </a:rPr>
              <a:t>号总部经济港</a:t>
            </a:r>
            <a:r>
              <a:rPr lang="en-US" altLang="zh-CN" sz="16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ea"/>
              </a:rPr>
              <a:t>G2</a:t>
            </a:r>
            <a:r>
              <a:rPr lang="zh-CN" altLang="en-US" sz="16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ea"/>
              </a:rPr>
              <a:t>楼</a:t>
            </a:r>
            <a:r>
              <a:rPr lang="en-US" altLang="zh-CN" sz="1600" b="1" dirty="0">
                <a:solidFill>
                  <a:schemeClr val="bg1"/>
                </a:solidFill>
                <a:latin typeface="汉仪文黑-55简" panose="00020600040101010101" pitchFamily="18" charset="-122"/>
                <a:ea typeface="汉仪文黑-55简" panose="00020600040101010101" pitchFamily="18" charset="-122"/>
                <a:cs typeface="汉仪文黑-55简" panose="00020600040101010101" pitchFamily="18" charset="-122"/>
                <a:sym typeface="+mn-ea"/>
              </a:rPr>
              <a:t>2F</a:t>
            </a:r>
            <a:endParaRPr lang="en-US" altLang="zh-CN" sz="1600" b="1" dirty="0">
              <a:solidFill>
                <a:schemeClr val="bg1"/>
              </a:solidFill>
              <a:latin typeface="汉仪文黑-55简" panose="00020600040101010101" pitchFamily="18" charset="-122"/>
              <a:ea typeface="汉仪文黑-55简" panose="00020600040101010101" pitchFamily="18" charset="-122"/>
              <a:cs typeface="汉仪文黑-55简" panose="00020600040101010101" pitchFamily="18" charset="-122"/>
              <a:sym typeface="+mn-ea"/>
            </a:endParaRPr>
          </a:p>
        </p:txBody>
      </p:sp>
      <p:pic>
        <p:nvPicPr>
          <p:cNvPr id="3" name="图片 2" descr="微信图片_20251224140631_1448_50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4355" y="4133850"/>
            <a:ext cx="1080000" cy="1080000"/>
          </a:xfrm>
          <a:prstGeom prst="rect">
            <a:avLst/>
          </a:prstGeom>
          <a:ln w="12700" cmpd="sng">
            <a:solidFill>
              <a:schemeClr val="bg1"/>
            </a:solidFill>
            <a:prstDash val="solid"/>
          </a:ln>
        </p:spPr>
      </p:pic>
      <p:pic>
        <p:nvPicPr>
          <p:cNvPr id="10" name="图片 9" descr="微信图片_20251224140632_1449_50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3245" y="4133850"/>
            <a:ext cx="1080000" cy="1080000"/>
          </a:xfrm>
          <a:prstGeom prst="rect">
            <a:avLst/>
          </a:prstGeom>
          <a:ln w="12700" cmpd="sng">
            <a:solidFill>
              <a:schemeClr val="bg1"/>
            </a:solidFill>
            <a:prstDash val="solid"/>
          </a:ln>
        </p:spPr>
      </p:pic>
      <p:pic>
        <p:nvPicPr>
          <p:cNvPr id="11" name="图片 10" descr="微信图片_20260109101018_1600_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8800" y="4133850"/>
            <a:ext cx="1080000" cy="1080000"/>
          </a:xfrm>
          <a:prstGeom prst="rect">
            <a:avLst/>
          </a:prstGeom>
          <a:ln w="12700" cmpd="sng">
            <a:solidFill>
              <a:schemeClr val="bg1"/>
            </a:solidFill>
            <a:prstDash val="solid"/>
          </a:ln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NGRkZjBiYzZkZTY1NDA4NDViODZmYzc4MDhmYWM3N2YifQ=="/>
  <p:tag name="resource_record_key" val="{&quot;19&quot;:[20344207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雅酷黑 65W"/>
        <a:ea typeface=""/>
        <a:cs typeface=""/>
        <a:font script="Jpan" typeface="ＭＳ Ｐゴシック"/>
        <a:font script="Hang" typeface="맑은 고딕"/>
        <a:font script="Hans" typeface="汉仪雅酷黑 65W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雅酷黑 65W"/>
        <a:ea typeface=""/>
        <a:cs typeface=""/>
        <a:font script="Jpan" typeface="ＭＳ Ｐゴシック"/>
        <a:font script="Hang" typeface="맑은 고딕"/>
        <a:font script="Hans" typeface="汉仪雅酷黑 65W"/>
        <a:font script="Hant" typeface="新細明體"/>
        <a:font script="Arab" typeface="汉仪雅酷黑 65W"/>
        <a:font script="Hebr" typeface="汉仪雅酷黑 65W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雅酷黑 65W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雅酷黑 65W"/>
        <a:ea typeface=""/>
        <a:cs typeface=""/>
        <a:font script="Jpan" typeface="游ゴシック"/>
        <a:font script="Hang" typeface="맑은 고딕"/>
        <a:font script="Hans" typeface="汉仪雅酷黑 65W"/>
        <a:font script="Hant" typeface="新細明體"/>
        <a:font script="Arab" typeface="汉仪雅酷黑 65W"/>
        <a:font script="Hebr" typeface="汉仪雅酷黑 65W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雅酷黑 65W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雅酷黑 65W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雅酷黑 65W"/>
        <a:ea typeface=""/>
        <a:cs typeface=""/>
        <a:font script="Jpan" typeface="ＭＳ Ｐゴシック"/>
        <a:font script="Hang" typeface="맑은 고딕"/>
        <a:font script="Hans" typeface="汉仪雅酷黑 65W"/>
        <a:font script="Hant" typeface="新細明體"/>
        <a:font script="Arab" typeface="汉仪雅酷黑 65W"/>
        <a:font script="Hebr" typeface="汉仪雅酷黑 65W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雅酷黑 65W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WPS 演示</Application>
  <PresentationFormat>宽屏</PresentationFormat>
  <Paragraphs>58</Paragraphs>
  <Slides>10</Slides>
  <Notes>5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汉仪文黑-55简</vt:lpstr>
      <vt:lpstr>汉仪雅酷黑 65W</vt:lpstr>
      <vt:lpstr>楷体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 c</dc:creator>
  <cp:lastModifiedBy>向东向前看</cp:lastModifiedBy>
  <cp:revision>166</cp:revision>
  <dcterms:created xsi:type="dcterms:W3CDTF">2022-05-26T12:58:00Z</dcterms:created>
  <dcterms:modified xsi:type="dcterms:W3CDTF">2026-03-04T03:30:48Z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5750EDF66DD04E198409F816A69C88CA_13</vt:lpwstr>
  </property>
  <property fmtid="{D5CDD505-2E9C-101B-9397-08002B2CF9AE}" pid="3" name="KSOProductBuildVer">
    <vt:lpwstr>2052-12.1.0.25225</vt:lpwstr>
  </property>
  <property fmtid="{D5CDD505-2E9C-101B-9397-08002B2CF9AE}" pid="4" name="KSOTemplateUUID">
    <vt:lpwstr>v1.0_mb_PllAcC6kOd8qOlVIlJ6VDA==</vt:lpwstr>
  </property>
</Properties>
</file>